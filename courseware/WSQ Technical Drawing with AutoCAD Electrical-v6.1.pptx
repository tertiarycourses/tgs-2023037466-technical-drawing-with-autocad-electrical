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464040" y="658368"/>
            <a:ext cx="2011680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78638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AutoCAD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20700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6ED3FF"/>
                </a:solidFill>
                <a:latin typeface="Arial"/>
              </a:rPr>
              <a:t>ELECTRICAL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Technical Drawing with AutoCAD Electrical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977639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TGS-2023037466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TSC: Technical Drawing  ·  DSN-TDR-4005-1.1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6.1  ·  21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Trainer: ______________________  ·  www.tertiarycourses.com.sg  ·  enquiry@tertiaryinfotech.com  ·  +65 6100 0613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data science, engineering design and CAD/CAE practice.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technical drawing (AutoCAD, AutoCAD Electrical, Revit, Fusion 360) and engineering software.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AutoCAD or electrical design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draw or document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stupid.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each other's views.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Exit silently for calls or toilet breaks.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All course materials live on the Tertiary Infotech LMS/TMS portal.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Portal:  https://lms-tms.tertiaryinfotech.com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Log in with the credentials sent to your registered email.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Download the slides and Learner Guide — you may use them during the open-book assessment.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Your attendance records, assessment submission and certificate are also on the portal.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783080"/>
            <a:ext cx="530352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1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559" y="1920240"/>
            <a:ext cx="3449361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 · 0930 – 1830 DAILY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1 — Getting started, projects and schematic drawing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(AM) · introductions · learning outcomes · course outline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1: Introduction to Technical Drawing Using AutoCAD Electrical (Labs 1–2)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2: Analysing Technical Drawings (Labs 3–4)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End of 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2 — Analysis, documentation, submission and assessment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(AM) · Day 1 recap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 (continued): cross-referencing &amp; review (Lab 5)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3: Reviewing Drawings for Strategic Relevance &amp; Standard Compliance (Labs 6–8)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Course feedback &amp; TRAQOM survey · digital attendance (Assessment)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Final Assessment: WA (SAQ) 1 hr + PP 1 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· 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TSC Title: Technical Drawing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TSC Code: DSN-TDR-4005-1.1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This course is mapped to the Skills Framework for Design — Technical Drawing TSC.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assessment covers every Knowledge (K1–K6) and Ability (A1–A6) statement of the TSC.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DSN-TDR-4005-1.1 · KNOWLEDGE (ASSESSED IN THE WA)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Knowledge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Symbols, standards and conventions used in technical drawings across various fields and regions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Methods of technical drawing by instruments and computer-aided design (CAD)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Types of technical drawings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Technical drawing standards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Fundamentals of drafting design documentation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Concepts of information technology (IT) to facilitate the usage of technical drawing software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DSN-TDR-4005-1.1 · ABILITIES (ASSESSED IN THE PP)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Ability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Devise metrics and guidelines for the production of technical drawings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Formulate solutions for problems encountered during the development of technical drawings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technical drawings for accuracy and adherence to established specifications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 drawings to determine their construction needs to deliver upon design solutions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technical drawings and/or changes to them, to ensure relevance to the organisation's strategies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drawings and specifications to ensure conformance to requirements of relevant standards for submission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— Devise &amp; solve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Devise metrics for technical drawing production with AutoCAD Electrical and formulate solutions for development problems. (K1, K2, A1, A2)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— Analyse &amp; review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Analyse technical drawings to determine construction needs while reviewing accuracy and adherence to specifications. (K3, K4, A3, A4)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— Strategy &amp; standards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Review drawings for relevance to the organisation's strategies and conformance to submission standards. (K5, K6, A5, A6)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LEARNING UNITS · EIGHT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Topic 1 ·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AutoCAD Electrical user interface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Symbols, standards &amp; conventions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Ribbon, palettes &amp; navigation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Projects &amp; drawing management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Topic 2 · Analysing Drawings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Types of schematic drawings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Components, terminals &amp; PLC symbols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Wires, numbers &amp; signal arrows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Cross-referencing &amp; review tools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3–5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Topic 3 · Review &amp;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Drafting design documentation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Panel layouts &amp; part-list reports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Custom symbols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Plot &amp; publish for submission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6–8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 ·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 (K1–K6)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hands-on AutoCAD Electrical tasks, 1 hour, open book. (A1–A6)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Minimum attendance rate of 75% based on the SSG Digital Attendance record.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assessment and be assessed as 'Competent'.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Introduction to Technical Drawing Using AutoCAD Electrical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343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User interface · symbols, standards &amp; conventions · ribbon · navigation · projects &amp; drawings  (K1, K2 · A1, A2)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MAPS TO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Symbols, standards, conventions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IEEE 315/315A, IEC-60617 and NFPA symbol libraries make an electrical drawing readable across fields and regions. (K1)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CAD vs manual drawing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AutoCAD Electrical automates tagging, wire numbering and cross-referencing that instrument drawing does by hand. (K2)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AutoCAD Electrical UI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Ribbon tabs, Quick Access Toolbar, marking menu, palettes, status bar, command line and navigation tools.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Projects drive everything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.wdp project file groups interrelated drawings so project-wide functions can retag, renumber and report.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Devise metrics &amp; guidelines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Templates, drawing properties, reference systems and title blocks standardise production. (A1)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Formulate solutions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Grid/snap, ortho, object snap and the Circuit Clipboard solve day-to-day drawing development problems. (A2)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USER INTERFACE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Ribbon Tabs and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AutoCAD Electrical presents a standard tabbed ribbon across the top of the drawing area.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Electrical-specific tabs (Schematic, Panel, Reports) sit alongside the core AutoCAD tabs.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tab is divided into panels that group related commands.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Right-click in the tabs area to choose which tabs and panels to display or hide.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1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581418"/>
            <a:ext cx="4709160" cy="83816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USER INTERFACE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Quick Access Toolbar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Quick Access Toolbar keeps New, Open, Save, Plot and Undo one click away.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 also carries navigation commands used frequently in AutoCAD Electrical.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Customise it: click the drop-down at its right end and tick the commands you use most.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1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94705"/>
            <a:ext cx="4709160" cy="341158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USER INTERFACE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Marking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marking menu is a radial context menu: hover an electrical object and right-click.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options shown depend on the type of object under the cursor — click one to run it.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Power use: press-and-hold right-click, move the cursor toward the desired option, release — a gesture runs the command directly.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2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50" y="1920240"/>
            <a:ext cx="4549219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USER INTERFACE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Palettes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Palettes manage projects (Project Manager) and the catalog database (Catalog Browser).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palette stays on screen while other commands run — always accessible.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Dock, resize or set auto-hide to control how much drawing space a palette uses.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2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80853"/>
            <a:ext cx="4709160" cy="203929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DEVISE METRICS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Status Bar — Precision 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status bar toggles the settings that make a drawing accurate and precise.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Grid (F7) displays the reference grid; Snap (F9) locks the cursor to grid points.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Ortho (F8) constrains movement to horizontal/vertical; Polar tracks set angles.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2D Object Snap (F3) jumps to endpoints, midpoints and circle centres as you draw.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These settings are your first production metric: set them before you draw.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2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70483"/>
            <a:ext cx="4709160" cy="206003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DRAWING ENVIRONMENTS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Space and Paper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Model space is a limitless drawing area where you draw at 1:1 real-world size.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First decide what one unit represents (1 mm, 1 cm, 1 inch …) — then draw to that scale.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Paper space (layouts) arranges scaled views of the model on a titled sheet for plotting.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2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105760"/>
            <a:ext cx="4709160" cy="17894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USER INTERFACE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Command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Command window accepts commands and system variables and prompts you through each command sequence.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Every ribbon click has a typed equivalent — experienced drafters mix both.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Ctrl+9 toggles the command window display.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Watch the prompts: they tell you exactly what input the command expects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VIEW CONTROL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Navigation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Pan moves the view parallel to the screen; Zoom changes magnification; Orbit rotates 3D views.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Mouse shortcuts: press the scroll wheel to Pan, roll it to Zoom, double-click it to Zoom Extents.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ZOOM (Z) options: All shows everything, Window zooms a picked area, Previous restores up to 10 earlier views, Scale magnifies by factor.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3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20622"/>
            <a:ext cx="4709160" cy="215975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PROJECT-BASED CAD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Projects — the .wdp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AutoCAD Electrical is project-based: a project is a set of interrelated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All project information — including the drawing list — is saved in a .wdp project file.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Project Manager creates, opens and manages projects and their settings.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Working project-wide is what lets tags, wire numbers and cross-references stay consistent.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3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38339"/>
            <a:ext cx="4709160" cy="212432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PROJECT-BASED CAD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Project Manager is a palette — it can stay on screen while you use other commands.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 can be docked, resized and set to auto-hide.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a project and the .wdp file lands in your chosen folder; the new project becomes active and you add drawings to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3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670" y="1920240"/>
            <a:ext cx="4589179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DEVISE GUIDELINES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Define library paths, drawing format and reference style when you start a project — or any time later.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Two kinds of properties: drawing defaults (copied into each new drawing) and project-wide settings.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Setting properties once at project level is how an organisation standardises its drawings.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3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953" y="1920240"/>
            <a:ext cx="4494614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PROJECT-BASED CAD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Activate a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Activate from the list of open projects in Project Manager.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 browse to the project's .wdp file, or pick from the recent-projects list.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opened project joins the Project Manager list and becomes the active project.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Copy an existing project to reuse its properties, drawings and support files in a new job.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4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038" y="1920240"/>
            <a:ext cx="3730443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DRAWING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Drawings in a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drawing order sets the processing order for project-wide functions — drag and drop to reorder.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Add folders within a project to organise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New Drawing creates a drawing inside the active project; give it a template with predefined electrical properties, wire layers, a reference system and a title block.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4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70" y="1920240"/>
            <a:ext cx="2404780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DEVISE METRICS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Drawing Properties control tagging and referencing per sheet: sheet values, installation and location codes.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Reference system: ladder, X-Y Grid or X Zones; formats for component tags, wire numbers and cross-references.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Styles: PLC modules, wire crossing and wire connection appearance.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Properties come from the template or the project defaults — override via OK-Properties when creating the drawing.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4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392" y="1920240"/>
            <a:ext cx="4377735" cy="416051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REUSE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Copy and Add Drawings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Copy a single drawing from any open project into the active project via Project Manager.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Add existing drawings any time — the way to reuse sheets from a previous job.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After adding, run Project-Wide Update/Retag to refresh ladder references, component tags, wire numbers and cross-references.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5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774" y="1920240"/>
            <a:ext cx="2924971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DRAWING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Reference-Only Drawings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Some drawings belong to the project but must not be processed by project-wide functions.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Mark them Reference Only in the drawing properties — tagging, cross-referencing and reporting skip them.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Typical examples: cover sheets, general notes, mechanical outlines.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5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44936"/>
            <a:ext cx="4709160" cy="331112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STANDARDS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Title Block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Insert a .dwg as the title block and link project/drawing property values to its attributes.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Title Block Setup creates and defines the mapping between properties and attributes.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Once mapped, sheet number, description and revision fill in automatically on every sheet — a core drafting standard.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STANDARDS · K1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 Systems — Ladders, X-Y Grid, X Zones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schematic drawing can define a reference system: ladder rungs, X-Y grid or X zones.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reference system assigns unique component tags and wire numbers (unless sequential tagging is used).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 also drives cross-referencing between parents and children.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the ladder or grid from Schematic → Insert Wires/Wire Numbers; define it on a template to save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5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108" y="1920240"/>
            <a:ext cx="4202304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a New AutoCAD Electrical Drawing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correctly configured metric drawing sheet, saved as a reusable baseline for the rest of the course.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Project with Project Manager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verified working copy of an AutoCAD Electrical .wdp project, with its schematic and panel sheets in the correct order and current library paths resolved.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New AutoCAD Electrical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Create a new drawing from the ACADISO template, then set the workspace, drawing limits and units — the production metrics every drawing in your organisation should start from.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correctly configured metric drawing sheet, saved as a reusable baseline for the rest of the course.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AutoCAD Electrical · ACADISO template · Status bar · Grid &amp; Snap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New AutoCAD Electrical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ZOOM All shows the full 420×297 sheet, the crosshair snaps in 10 mm increments, and STATUS reports decimal units — your baseline metrics are in force.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Project with Project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AutoCAD Electrical is project-based: a .wdp project groups interrelated schematic and panel drawings so project-wide functions can retag, renumber, cross-reference and report. Inspect the supplied AutoCAD Electrical sample project, then create a safe working copy for the connected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verified working copy of an AutoCAD Electrical .wdp project, with its schematic and panel sheets in the correct order and current library paths resolved.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Project Manager · .wdp/.aepx project files · linked schematic and panel DWGs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Project with Project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Project Manager shows TRAINING in bold, every sample-project drawing resolves from the working folder, no unresolved legacy library path remains, and the original supplied package is unchanged.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A1 — devise metrics and guidelines for technical drawing production (template, workspace, limits, units)  (Lab 1)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A1, A2 — standardise production with a project; solve multi-drawing organisation problems  (Lab 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 concepts: Symbols, standards, conventions, CAD vs manual drawing, The AutoCAD Electrical UI, Projects drive everything, Devise metrics &amp; guidelines, Formulate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Back at 1300 · PM digital attendance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Analysing Technical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343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Types of schematic drawings · components, terminals &amp; PLC symbols · wires &amp; part lists · accuracy review  (K3, K4 · A3, A4)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MAPS TO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Types of technical drawings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Schematics, panel layouts, wiring diagrams, one-line diagrams and reference-only sheets each serve a construction purpose. (K3)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Technical drawing standards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Ladder references, X-Y grids, wire-number formats and cross-reference styles are the standards drawings are checked against. (K4)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Schematic components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Insert from the icon menu or catalog database; annotate with tags, descriptions and catalog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Terminals &amp; PLC symbols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Standard part lists rely on terminal strips and parametric PLC I/O modules that adapt to the ladder.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Wires, numbers &amp; arrows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Wire layers, wire numbers and source/destination signal arrows carry the circuit across sheets.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 for accuracy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Cross-referencing, Surfer and Mark/Verify audit a drawing set for accuracy and adherence to specifications. (A3, A4)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DRAWING TYPES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Technical Drawings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Schematic diagrams show circuit logic: ladders, components, wires and signals.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Panel layout drawings show the physical arrangement of components in an enclosure.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Wiring / connection diagrams document point-to-point conductor runs and terminal strips.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One-line (single-line) diagrams summarise power distribution at system level.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Reference-only sheets (covers, notes, outlines) support the set without carrying circuit data.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Each type answers a different construction need — a full drawing set uses them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SCHEMATICS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Schematic Components — Grid and Snap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Insert schematic components, generate PLC modules, and insert or copy circuits.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Work with grid lines on and snap-to-grid when inserting components.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GRID sets grid spacing; SNAP sets snap spacing; F7 toggles grid visibility, F9 toggles snap.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Consistent snap spacing keeps rungs aligned so wires connect cleanly — an accuracy standard.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STANDARDS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Symbol Library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AutoCAD Electrical ships symbol libraries complying with IEEE 315/315A, IEC-60617 and NFPA.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IEEE and IEC libraries are metric; NFPA library symbols are in inches (scale with the Modify-library utility).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old JIC standard was absorbed into NFPA 79; JIC and older IEC libraries remain for legacy support.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Pick ONE standard per project in Project Properties — mixing standards breaks readability across regions.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6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17178"/>
            <a:ext cx="4709160" cy="316664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a Component from the Catalog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Know the part number already? Insert the component straight from the catalog database.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the Catalog Browser palette; search values are saved for quick reuse.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Catalog information lands on the symbol automatically; edit further in the Insert/Edit dialog that follows insertion.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6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86176"/>
            <a:ext cx="4709160" cy="202864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a Component from the Icon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icon menu inserts by symbol type — a NO push button, a 3-position selector switch, and so 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Different icon menus exist per library set; choose the project's icon menu under Project Settings.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After insertion, annotate with descriptions and catalog information.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6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7725"/>
            <a:ext cx="4709160" cy="306554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COMPONENT DATA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Annotate the Symbol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symbol carries a main catalog value plus optional multiple-catalog values.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Edit a component to add, change or remove catalog assignments — Lookup opens the catalog search.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Multiple Catalog attaches auxiliary parts (contact blocks, adapters) to the same device.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Complete, accurate annotation is what makes reports and BOMs trustworthy downstream.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6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80219"/>
            <a:ext cx="4709160" cy="384056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COMPONENT MODEL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Parent and Child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Some devices are drawn as several symbols — a relay is a coil plus its contact symbols.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coil is the parent; contacts are children that inherit its tag and data.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When inserting a child, pick its parent from the active drawing or project list in the Insert/Edit Child dialog.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Parent/child links power the cross-reference grid you will read in every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7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228" y="1920240"/>
            <a:ext cx="4282063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PLC SYMBOLS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PLC I/O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AutoCAD Electrical generates hundreds of PLC I/O modules on demand, in multiple graphical styles.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Modules adapt automatically to the underlying ladder rung spacing.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Expand manufacturer → series → type, pick the module and style, then place it by insertion point.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Parametric generation keeps PLC drawings consistent with the wiring standard in force.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7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600" y="1920240"/>
            <a:ext cx="4467320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REUSE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Circuits and Circuit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circuit is any collection of components and wires; save frequently used circuits to the icon menu.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saved circuit re-inserts with tags updating automatically to stay unique.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Circuit Builder assembles motor-control and power-feed circuits dynamically from your dialog selections.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Building from proven circuits is how construction needs are met quickly and correctly.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7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87845"/>
            <a:ext cx="4709160" cy="342531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TERMINALS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Schematic Terminals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terminals like other schematic symbols — from the Catalog Browser (TRMS category) or the icon menu.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Four terminal behaviour types exist; the terminal block name controls the behaviour.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Pick the behaviour type and terminal style carefully when inserting from the icon menu.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TERMINAL STRIP command inserts strip symbols using Installation, Location and Tagstrip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8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76477"/>
            <a:ext cx="4709160" cy="204804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TERMINALS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Terminal Block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schematic terminal symbol represents a single-level terminal or ONE level of a multi-level terminal.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number of levels is a block property; each level carries its own wiring data.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View and edit properties in the Insert/Edit Terminal Symbol dialog.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Associate schematic terminals across levels — and manage whole strips in the Terminal Strip Editor.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8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364" y="1920240"/>
            <a:ext cx="4125791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WIRING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Wires and Wire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wire is a line object on a layer defined as a wire layer; a wire network is connected wire segments.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Manage wire layers in a grid: edit colour and size inline, right-click to rename.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layers for wire families (24VDC, 230VAC, earth) so wiring intent is visible at a glance.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9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775191"/>
            <a:ext cx="4709160" cy="245061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Wires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Inserted wires land on a wire layer automatically — joining an existing wire adopts that wire's layer.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tee connection receives a dot or angled tee per the Styles tab of Drawing Properties.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Change/Convert Wire Type moves wires to another layer or converts plain lines into wires.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9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677645"/>
            <a:ext cx="4709160" cy="264571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STANDARDS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 Number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Wire Numbers tab of Drawing Properties defines the wire-number format, type and placement.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format mixes text and replaceable parameters: %N (number), %S (sheet), %D (drawing), %X (suffix position), %P/%I/%L (IEC project / installation / location codes).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Wire numbering is a specification — every sheet in the set must follow the same format.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WIRING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Wire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Wire Numbers command inserts new numbers or updates existing ones drawing- or project-wide.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Drawing-property settings are preselected; override per run if needed.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Numbers marked Fixed are preserved by renumbering — edit them via Edit Wire Number.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0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114651"/>
            <a:ext cx="4709160" cy="177169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MULTI-SHEET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Signal Arrows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signal arrow breaks a wire network and continues it elsewhere — same drawing or another sheet.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AutoCAD Electrical uses named source/destination pairs: give the source a code, then insert destinations that reference it.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Arrows carry cross-reference annotation both ways, so a checker can trace the signal across the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0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18311"/>
            <a:ext cx="4709160" cy="296437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REVIEW FOR ACCURACY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Cross-Referencing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Cross-references annotate related components with each other's reference locations.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Three annotation styles on a parent; child annotation is always text format.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Signal arrows are cross-referenced too — source shows destinations, destination shows its source.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 the format and style on Drawing Properties → Cross-References; keep it current before any review or PDF publish.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0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81445"/>
            <a:ext cx="4709160" cy="283810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REVIEW FOR ACCURACY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Surfing Between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Surfer jumps between related components and follows signal arrows across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Pick a parent and surf to each child, or follow a source arrow to its destinations.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Surfing is the fastest way to audit that parents, children and signals all agree.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35366"/>
            <a:ext cx="4709160" cy="353026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MODIFY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Modify Commands — Edit Without Breaking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Always modify with the Electrical editing commands so component intelligence survives.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Align components; Move — tags update, wires heal and break as needed.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Copy with multiple insertion points — tags stay unique; optionally update terminal numbers.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Circuit Clipboard (Cut/Copy/Paste) moves components and wires between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Quick edits: delete-and-heal, toggle NO/NC contact state, swap a block.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1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298" y="1920240"/>
            <a:ext cx="3045923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REUSE AT SCALE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Project-Wide Updates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Reusing drawings from a previous design? Update the reference system, retag components, reassign wire numbers and refresh cross-references in ONE pass.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Project-Wide Update/Retag runs across every non-reference drawing in the project.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is what keeps a copied design consistent instead of quietly wrong.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2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767149"/>
            <a:ext cx="4709160" cy="246670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CHANGE CONTROL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Track Changes — Mark and Verify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Mark/Verify tracks changes to your drawings — even changes made outside AutoCAD Electrical.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Mark records the current state before edits begin.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Verify afterwards reports every change — print it or surf straight to each changed object.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marked-and-verified set gives the reviewer an exact change list to check against the specification.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2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737162"/>
            <a:ext cx="4709160" cy="252667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Circuits with Circuit Builder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schematic sheet containing a Circuit Builder motor circuit plus a saved, reusable circuit block.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Insert Wires, Wire Numbers and Terminals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correctly wired and wire-numbered circuit with terminals, matching the drawing's wire-number specification.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Cross-Reference and Surf a Drawing Set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cross-referenced two-sheet circuit you can navigate with Surfer, plus a Mark/Verify change report.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Circuits with Circuit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Use Circuit Builder to insert a three-phase motor-control circuit built dynamically from your selections, then save a frequently used circuit and re-insert it from the icon menu.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schematic sheet containing a Circuit Builder motor circuit plus a saved, reusable circuit block.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Circuit Builder · Icon Menu · Schematic components · Saved circuits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Circuits with Circuit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motor circuit sits on the ladder with unique component tags (M1, PB1 …), and your saved circuit re-inserts with automatically retagged components — construction needs are met without redrawing.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Wires, Wire Numbers and Terminals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Insert wires between components, trim them, add automatic wire numbers in the drawing's specified format, and place schematic terminals — the accuracy checks every wiring diagram must pass.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correctly wired and wire-numbered circuit with terminals, matching the drawing's wire-number specification.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 · Wire Numbers · Trim Wire · Schematic Terminals · Power Plan 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Wires, Wire Numbers and Terminals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Every wire carries a number in the drawing-property format, the fixed number survives a project-wide renumber, and the terminals join the wires cleanly — the sheet passes an accuracy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Cross-Reference and Surf a Drawing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Link a parent coil to its child contacts, break a wire across sheets with source/destination signal arrows, then audit the set with Surfer and Mark/Verify — how a checker reviews a real drawing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cross-referenced two-sheet circuit you can navigate with Surfer, plus a Mark/Verify change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Cross-referencing · Signal Arrows · Surfer · Mark/Verify · Reference 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Cross-Reference and Surf a Drawing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Surfer jumps coil → contact → signal arrow across sheets without manual searching, and the Verify report lists exactly the one component you moved — the set is auditable for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A4 — analyse drawings to determine construction needs; assemble standard motor-control circuits  (Lab 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A3 — review drawings for accuracy; wire the circuit and number it to specification  (Lab 4)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A3, A4 — review a multi-sheet set for accuracy with cross-references, Surfer and signal arrows  (Lab 5)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 concepts: Types of technical drawings, Technical drawing standards, Schematic components, Terminals &amp; PLC symbols, Wires, numbers &amp; arrows, Review for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TOMORROW · 0930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Day 2 continues with drawing-set review, documentation, submission — and the final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Digital attendance (AM) · Day 1 recap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Reviewing Technical Drawings for Strategic Relevance and Standard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343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Drafting documentation · panel layouts · reports &amp; part lists · custom symbols · plot &amp; publish for submission  (K5, K6 · A5, A6)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MAPS TO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Fundamentals of documentation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Panel layouts, nameplates, item numbers and balloons turn a schematic into build documentation. (K5)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Reports &amp; part lists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BOM, wire from/to and component reports extract project data for checking and procurement.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Custom symbols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Symbol Builder creates house-standard symbols so drawings match the organisation's conventions. (K6)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Strategic relevance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Reuse projects, track changes and align drawing sets with the organisation's design strategies. (A5)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Standard compliance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Title blocks, xrefs and plot standards keep sheets conformant to submission requirements. (A6)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Plot &amp; publish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Output the project to a printer or a hyperlinked multi-sheet PDF for stakeholder submission.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DOCUMENTATION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Fundamentals of Drafting Design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 schematic alone cannot be built: documentation adds the physical and procurement views.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Panel layouts show where each device mounts; nameplates label them; item numbers and balloons key parts to the BOM.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Reports extract part lists, wire lists and terminal plans from the same project data — no retyping.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Documentation must align with the organisation's strategies (house symbols, formats) and submission standards. (A5, A6)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DOCUMENTATION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Panel Layouts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Insert panel footprint symbols from the schematic component list or the panel icon menu.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PANEL ribbon tab carries the layout tools; drawing properties hold panel-specific settings.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Add components and connect with the insert tools; nameplates, item numbers and balloons complete the layout.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SCHEMATIC →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Footprints from the Schematic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Draw schematics first, then build the panel by selecting from the schematic component list.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catalog assignment finds the correct footprint; browse or draw one on the fly if missing.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dialog shows which components are already placed; all values copy from schematic to footprint.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Change a value on either side later and the other side updates — schematic and panel stay consistent.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29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45843"/>
            <a:ext cx="4709160" cy="3309313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Panel Icon Menu and Nameplates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Components not on the schematic (wire duct, rails) insert from the Panel Icon Menu.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nameplates from the icon menu and associate each with a footprint.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Tag, installation, location and descriptions copy from the footprint — override if required.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3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76173"/>
            <a:ext cx="4709160" cy="404865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BOM KEYING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Item Numbers and Balloons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Item numbers key parts to the BOM; components sharing a catalog value share an item number.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Panel components are numbered first, then schematic components.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 the item-numbering project properties before resequencing.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balloons to make item numbers visible; multi-catalog components prompt for which value to balloon.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3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974" y="1920240"/>
            <a:ext cx="2954572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TERMINAL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Terminal Strip Editor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Manage an entire terminal strip at once: catalog values, connected components, wires and numbers.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Resequence terminal numbers, reorder terminals, add spares and accessories, insert jumpers.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strip list merges panel terminals and schematic terminals into one editable view.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the strip graphically — or generate tabular terminal strips with the Table Generator.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39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16836"/>
            <a:ext cx="4709160" cy="376732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PART LISTS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Generate project reports: Bill of Material, component lists, wire from/to, terminal plans and more.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REPORT command builds custom reports from drawing data; select the report, options and drawings to process.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Output to a file for procurement, or insert on the drawing as a table for the construction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465777"/>
            <a:ext cx="4709160" cy="106944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HOUSE STANDARDS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 Fields and Format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After running a report, include/exclude fields, reorder them and rename labels.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Save the settings as a .SET format file — unlimited format files per report type.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Format files ARE the organisation's reporting standard: everyone reproduces the same layout in one click.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Automatic Reports runs a whole group of formatted reports in a single pass.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4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33236"/>
            <a:ext cx="4709160" cy="353452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PART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Output a Report — File or Drawing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Save to File exports the report (CSV, XLS, MDB) for procurement and checking.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Put on Drawing inserts the report as an AutoCAD table — style it with TABLESTYLE.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drawing table and the exported file come from the same data, so they cannot disagree.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5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674746"/>
            <a:ext cx="4709160" cy="265150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IT CONCEPTS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 Symbols with Symbol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Symbol Builder creates custom symbols fully compatible with AutoCAD Electrical.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Start from scratch or from a similar existing symbol; set symbol type, insertion point and orientation.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For schematic symbols create both the parent and child versions.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Draw the graphics, then save following the AutoCAD Electrical symbol naming convention — that is what makes the symbol intelligent.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7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35979"/>
            <a:ext cx="4709160" cy="372904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COMPOSITION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(Xrefs)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external reference attaches another file into the current drawing without copying it.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External References palette organises DWG, DWF, DGN, PDF and image references.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Attach via the palette (View tab → Palettes) or the XREF command; pick the file and placement.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Xrefs keep shared content (title blocks, outlines) in ONE file — edit once, update everywhere.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5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141323"/>
            <a:ext cx="4709160" cy="1718353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SUBMISSION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 a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Print an entire project, a subset of sheets, or a single drawing.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Publish/Plot on Project Manager → Plot Project, then pick the drawings to output.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the layout to plot per drawing; use a named page setup for consistent output.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Map a plot date/time attribute in the title block — it stamps automatically at plot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5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645" y="1920240"/>
            <a:ext cx="4507230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SUBMISSION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Publish to a Hyperlinked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Publish the project to a multi-sheet PDF that preserves relationships as hyperlinks.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Tick Multi-sheet file and Include Hyperlinks; the zoom factor sets how close a clicked link zooms.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object carries one hyperlink — reach a child through the parent's cross-reference text.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Update cross-referencing BEFORE publishing; then reviewers can navigate the set without AutoCAD.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6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561" y="1920240"/>
            <a:ext cx="3527397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Panel Layout with Footprints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panel layout drawing with footprints placed from the schematic list, a nameplate, item numbers and balloons.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Generate Reports and Part Lists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BOM table placed on the drawing plus a saved .SET format file and a CSV export of the report.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Plot and Publish the Project to PDF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A3 PDF plot of one sheet and a hyperlinked multi-sheet PDF of the whole project.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Panel Layout with Footprints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Generate a panel layout from the schematic component list, insert footprints and a nameplate, and assign item numbers with balloons — drafting design documentation the workshop can build from.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panel layout drawing with footprints placed from the schematic list, a nameplate, item numbers and balloons.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Panel tab · Schematic List · Footprints · Nameplates · Item balloons · Blocks DWGs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Panel Layout with Footprints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Each footprint shows the same tag as its schematic parent, the nameplate carries the footprint's description, and balloons display consistent item numbers — the panel documents the design faithfully.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Reports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Run Bill of Material and Wire From/To reports across the project, tailor the fields, save a format file for repeat use, and insert the report as a table on the drawing — the part lists a checker reviews.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BOM table placed on the drawing plus a saved .SET format file and a CSV export of the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Reports · Bill of Material · Format files (.SET) · Tables · Attributes 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Reports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BOM table on the drawing matches the CSV export line for line, and re-running the report through your .SET format file reproduces the same layout — the part list is standard-compliant and repeatable.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 and Publish the Project to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Attach an external reference, then plot a drawing to an A3 PDF and publish the whole project to a single multi-sheet PDF with hyperlinks — the final conformance step before submission.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A3 PDF plot of one sheet and a hyperlinked multi-sheet PDF of the whole project.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External References · Plot · Publish · Multi-sheet PDF · Layout tabs 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 and Publish the Project to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A3 PDF matches the layout exactly, and in the multi-sheet PDF clicking a cross-reference hyperlink jumps to the referenced component — the set is ready for standards-conformant submission.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A5 — turn the schematic into build documentation aligned with the organisation's design strategy  (Lab 6)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A6, K5 — extract BOM and wire lists, format them to house standards and place them on the drawing  (Lab 7)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A6 — output the drawing set to submission standards (A3 sheets, hyperlinked multi-sheet PDF)  (Lab 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 concepts: Fundamentals of documentation, Reports &amp; part lists, Custom symbols, Strategic relevance, Standard compliance, Plot &amp; publish.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Course Summary &amp;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 up to standard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Configured drawings from templates with limits, units, grid and snap — production metrics in force. (A1)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Projects &amp; drawings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Built .wdp projects, managed drawing order, properties and reference-only sheets. (A1, A2)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Schematic drawing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Inserted components, circuits, terminals and PLC modules to IEC/IEEE/NFPA standards. (K1, K3)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Wired &amp; numbered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Wired circuits with layered wires, spec-format wire numbers and signal arrows. (K4, A3)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Reviewed drawing sets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Audited accuracy with cross-references, Surfer and Mark/Verify. (A3, A4)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Documented &amp; submitted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Produced panel layouts, BOM reports, custom symbols and hyperlinked PDF submissions. (K5, K6, A5, A6)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YOUR LEARNING · TERTIARYCOURSES.COM.SG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Technical Drawing with AutoCAD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Technical Drawing with AutoCAD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Application of BIM using Revit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Architecture Drawing with Revit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Product Design with Fusion 360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AutoCAD Civil 3D for Infrastructure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FEEDBACK · TRAQOM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 &amp; TRAQOM Survey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course feedback and the mandatory SSG TRAQOM survey.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e-certificate is issued via the LMS/TMS portal: https://lms-tms.tertiaryinfotech.com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will display the TRAQOM QR code — please complete it before the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 (K1–K6)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hands-on AutoCAD Electrical tasks, 1 hour, open book. (A1–A6)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scripts to the assessor and sign the Assessment Summary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DRAFTING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produce, analyse and review technical drawings with AutoCAD Electrical.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